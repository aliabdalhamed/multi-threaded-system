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application/vnd.openxmlformats-package.relationships+xml" Extension="rels"/>
  <Default ContentType="application/xml" Extension="xml"/>
  <Default ContentType="application/x-fontdata" Extension="fntdata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Canva Sans" panose="020B0604020202020204" charset="0"/>
      <p:regular r:id="rId33"/>
    </p:embeddedFont>
    <p:embeddedFont>
      <p:font typeface="Open Sans Bold" panose="020B0604020202020204" charset="0"/>
      <p:regular r:id="rId34"/>
    </p:embeddedFont>
    <p:embeddedFont>
      <p:font typeface="Open Sans" panose="020B0604020202020204" charset="0"/>
      <p:regular r:id="rId35"/>
    </p:embeddedFont>
    <p:embeddedFont>
      <p:font typeface="TT Supermolot Neue Expanded Bold" panose="020B0604020202020204" charset="0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nva Sans Bold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 ?><Relationships xmlns="http://schemas.openxmlformats.org/package/2006/relationships"><Relationship Id="rId3" Target="../media/image9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 ?><Relationships xmlns="http://schemas.openxmlformats.org/package/2006/relationships"><Relationship Id="rId3" Target="../media/image12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 ?><Relationships xmlns="http://schemas.openxmlformats.org/package/2006/relationships"><Relationship Id="rId3" Target="../media/image22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0.xml.rels><?xml version="1.0" encoding="UTF-8" standalone="yes" ?><Relationships xmlns="http://schemas.openxmlformats.org/package/2006/relationships"><Relationship Id="rId3" Target="../media/image23.jpeg" Type="http://schemas.openxmlformats.org/officeDocument/2006/relationships/image"/><Relationship Id="rId2" Target="../media/image2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04" b="-39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9732805" y="0"/>
            <a:ext cx="14344914" cy="13304908"/>
          </a:xfrm>
          <a:custGeom>
            <a:avLst/>
            <a:gdLst/>
            <a:ahLst/>
            <a:cxnLst/>
            <a:rect l="l" t="t" r="r" b="b"/>
            <a:pathLst>
              <a:path w="14344914" h="13304908">
                <a:moveTo>
                  <a:pt x="0" y="0"/>
                </a:moveTo>
                <a:lnTo>
                  <a:pt x="14344914" y="0"/>
                </a:lnTo>
                <a:lnTo>
                  <a:pt x="14344914" y="13304908"/>
                </a:lnTo>
                <a:lnTo>
                  <a:pt x="0" y="1330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90025" y="5297795"/>
            <a:ext cx="8203545" cy="7608788"/>
          </a:xfrm>
          <a:custGeom>
            <a:avLst/>
            <a:gdLst/>
            <a:ahLst/>
            <a:cxnLst/>
            <a:rect l="l" t="t" r="r" b="b"/>
            <a:pathLst>
              <a:path w="8203545" h="7608788">
                <a:moveTo>
                  <a:pt x="0" y="0"/>
                </a:moveTo>
                <a:lnTo>
                  <a:pt x="8203545" y="0"/>
                </a:lnTo>
                <a:lnTo>
                  <a:pt x="8203545" y="7608788"/>
                </a:lnTo>
                <a:lnTo>
                  <a:pt x="0" y="76087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28860" y="4548326"/>
            <a:ext cx="15830280" cy="133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  <a:spcBef>
                <a:spcPct val="0"/>
              </a:spcBef>
            </a:pPr>
            <a:r>
              <a:rPr lang="en-US" sz="7747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MULTI-THREADED SYSTEM </a:t>
            </a:r>
          </a:p>
        </p:txBody>
      </p:sp>
      <p:sp>
        <p:nvSpPr>
          <p:cNvPr id="6" name="Freeform 6"/>
          <p:cNvSpPr/>
          <p:nvPr/>
        </p:nvSpPr>
        <p:spPr>
          <a:xfrm rot="-8689648">
            <a:off x="7189413" y="-11097647"/>
            <a:ext cx="15930504" cy="14775542"/>
          </a:xfrm>
          <a:custGeom>
            <a:avLst/>
            <a:gdLst/>
            <a:ahLst/>
            <a:cxnLst/>
            <a:rect l="l" t="t" r="r" b="b"/>
            <a:pathLst>
              <a:path w="15930504" h="14775542">
                <a:moveTo>
                  <a:pt x="0" y="0"/>
                </a:moveTo>
                <a:lnTo>
                  <a:pt x="15930504" y="0"/>
                </a:lnTo>
                <a:lnTo>
                  <a:pt x="15930504" y="14775542"/>
                </a:lnTo>
                <a:lnTo>
                  <a:pt x="0" y="14775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69604">
            <a:off x="12159467" y="-2228596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3820115" y="-2023412"/>
            <a:ext cx="7135815" cy="6618468"/>
          </a:xfrm>
          <a:custGeom>
            <a:avLst/>
            <a:gdLst/>
            <a:ahLst/>
            <a:cxnLst/>
            <a:rect l="l" t="t" r="r" b="b"/>
            <a:pathLst>
              <a:path w="7135815" h="6618468">
                <a:moveTo>
                  <a:pt x="0" y="0"/>
                </a:moveTo>
                <a:lnTo>
                  <a:pt x="7135814" y="0"/>
                </a:lnTo>
                <a:lnTo>
                  <a:pt x="7135814" y="6618468"/>
                </a:lnTo>
                <a:lnTo>
                  <a:pt x="0" y="6618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7987944" y="5571500"/>
            <a:ext cx="6988077" cy="6481441"/>
          </a:xfrm>
          <a:custGeom>
            <a:avLst/>
            <a:gdLst/>
            <a:ahLst/>
            <a:cxnLst/>
            <a:rect l="l" t="t" r="r" b="b"/>
            <a:pathLst>
              <a:path w="6988077" h="6481441">
                <a:moveTo>
                  <a:pt x="0" y="0"/>
                </a:moveTo>
                <a:lnTo>
                  <a:pt x="6988077" y="0"/>
                </a:lnTo>
                <a:lnTo>
                  <a:pt x="6988077" y="6481441"/>
                </a:lnTo>
                <a:lnTo>
                  <a:pt x="0" y="6481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56518" y="1228672"/>
            <a:ext cx="11834932" cy="860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  <a:p>
            <a:pPr algn="l">
              <a:lnSpc>
                <a:spcPts val="3955"/>
              </a:lnSpc>
            </a:pPr>
            <a:r>
              <a:rPr lang="en-US" sz="282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Two Distinct Chat System Implementations</a:t>
            </a:r>
          </a:p>
          <a:p>
            <a:pPr marL="609981" lvl="1" indent="-304991" algn="l">
              <a:lnSpc>
                <a:spcPts val="3955"/>
              </a:lnSpc>
              <a:buAutoNum type="arabicPeriod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Shared Memory System: Same-machine IPC with synchronization</a:t>
            </a:r>
          </a:p>
          <a:p>
            <a:pPr marL="609981" lvl="1" indent="-304991" algn="l">
              <a:lnSpc>
                <a:spcPts val="3955"/>
              </a:lnSpc>
              <a:buAutoNum type="arabicPeriod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Socket-Based System: Cross-machine network communication</a:t>
            </a:r>
          </a:p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Requirements Met: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Multi-threaded architecture using C++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Simple Graphical User Interface (GUI)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Inter-process Communication (IPC) mechanisms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Synchronization and thread safety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Real-time message passing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Client-server architecture patterns</a:t>
            </a:r>
          </a:p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Stack: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Language: C++17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GUI Framework: Dear ImGui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Graphics: DirectX 11 (Shared Memory) / OpenGL (Network)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System: CMake</a:t>
            </a:r>
          </a:p>
          <a:p>
            <a:pPr marL="609981" lvl="1" indent="-304991" algn="l">
              <a:lnSpc>
                <a:spcPts val="3955"/>
              </a:lnSpc>
              <a:buFont typeface="Arial"/>
              <a:buChar char="•"/>
            </a:pPr>
            <a:r>
              <a:rPr lang="en-US" sz="28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Platform: Windows with cross-platform potential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835" y="348021"/>
            <a:ext cx="10446396" cy="68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0"/>
              </a:lnSpc>
              <a:spcBef>
                <a:spcPct val="0"/>
              </a:spcBef>
            </a:pPr>
            <a:r>
              <a:rPr lang="en-US" sz="3871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PROJECT OVERVIEW &amp; OBJECTIVES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69604">
            <a:off x="12159467" y="-2228596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14762110" y="4411757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7" y="0"/>
                </a:lnTo>
                <a:lnTo>
                  <a:pt x="3173847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7557077" y="570213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919231" y="2772337"/>
            <a:ext cx="6735824" cy="2836751"/>
          </a:xfrm>
          <a:custGeom>
            <a:avLst/>
            <a:gdLst/>
            <a:ahLst/>
            <a:cxnLst/>
            <a:rect l="l" t="t" r="r" b="b"/>
            <a:pathLst>
              <a:path w="6735824" h="2836751">
                <a:moveTo>
                  <a:pt x="0" y="0"/>
                </a:moveTo>
                <a:lnTo>
                  <a:pt x="6735824" y="0"/>
                </a:lnTo>
                <a:lnTo>
                  <a:pt x="6735824" y="2836751"/>
                </a:lnTo>
                <a:lnTo>
                  <a:pt x="0" y="2836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919231" y="6930311"/>
            <a:ext cx="6735824" cy="2766707"/>
          </a:xfrm>
          <a:custGeom>
            <a:avLst/>
            <a:gdLst/>
            <a:ahLst/>
            <a:cxnLst/>
            <a:rect l="l" t="t" r="r" b="b"/>
            <a:pathLst>
              <a:path w="6735824" h="2766707">
                <a:moveTo>
                  <a:pt x="0" y="0"/>
                </a:moveTo>
                <a:lnTo>
                  <a:pt x="6735824" y="0"/>
                </a:lnTo>
                <a:lnTo>
                  <a:pt x="6735824" y="2766708"/>
                </a:lnTo>
                <a:lnTo>
                  <a:pt x="0" y="276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4703" y="658709"/>
            <a:ext cx="10654233" cy="65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3"/>
              </a:lnSpc>
              <a:spcBef>
                <a:spcPct val="0"/>
              </a:spcBef>
            </a:pPr>
            <a:r>
              <a:rPr lang="en-US" sz="3759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SYSTEM ARCHITECTURE COMPARISON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6740" y="1702635"/>
            <a:ext cx="853451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High-Level Architecture Diagrams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92870" y="3456806"/>
            <a:ext cx="46998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System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37" y="7413402"/>
            <a:ext cx="421993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Socket-Based System :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49438" y="1293328"/>
            <a:ext cx="7668442" cy="8925657"/>
          </a:xfrm>
          <a:custGeom>
            <a:avLst/>
            <a:gdLst/>
            <a:ahLst/>
            <a:cxnLst/>
            <a:rect l="l" t="t" r="r" b="b"/>
            <a:pathLst>
              <a:path w="7668442" h="8925657">
                <a:moveTo>
                  <a:pt x="0" y="0"/>
                </a:moveTo>
                <a:lnTo>
                  <a:pt x="7668442" y="0"/>
                </a:lnTo>
                <a:lnTo>
                  <a:pt x="7668442" y="8925657"/>
                </a:lnTo>
                <a:lnTo>
                  <a:pt x="0" y="8925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71" t="-5571" r="-6971" b="-640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74557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CORE DATA STRUCTURES - SHARED MEMORY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740" y="4844792"/>
            <a:ext cx="9932559" cy="28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This is the blueprint for our shared memory. All processes (server and clients) use this exact same structure in memory. 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atomic variables ensure that when multiple threads/processes access the data simultaneously, there are no conflicts or data corruption.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1069" y="3566667"/>
            <a:ext cx="810184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shared.h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(Complete Structure Definition)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43743" y="1028700"/>
            <a:ext cx="6827708" cy="9043409"/>
          </a:xfrm>
          <a:custGeom>
            <a:avLst/>
            <a:gdLst/>
            <a:ahLst/>
            <a:cxnLst/>
            <a:rect l="l" t="t" r="r" b="b"/>
            <a:pathLst>
              <a:path w="6827708" h="9043409">
                <a:moveTo>
                  <a:pt x="0" y="0"/>
                </a:moveTo>
                <a:lnTo>
                  <a:pt x="6827708" y="0"/>
                </a:lnTo>
                <a:lnTo>
                  <a:pt x="6827708" y="9043409"/>
                </a:lnTo>
                <a:lnTo>
                  <a:pt x="0" y="904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37" t="-5335" r="-8778" b="-591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74557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SHARED MEMORY CREATION - PLATFORM ABSTRACTION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483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This creates a "shared memory segment" that multiple processes can access. Think of it like creating a shared Google Doc: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CreateFileMapping() creates the document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MapViewOfFile() opens the document in your program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processes see the same data in real-time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atomic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? Multiple processes might try to write at the same time. Atomic operations ensure only one process writes at a time, preventing data corruption.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</a:t>
            </a: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(Windows Implementation)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78859" y="1028700"/>
            <a:ext cx="6892592" cy="9075616"/>
          </a:xfrm>
          <a:custGeom>
            <a:avLst/>
            <a:gdLst/>
            <a:ahLst/>
            <a:cxnLst/>
            <a:rect l="l" t="t" r="r" b="b"/>
            <a:pathLst>
              <a:path w="6892592" h="9075616">
                <a:moveTo>
                  <a:pt x="0" y="0"/>
                </a:moveTo>
                <a:lnTo>
                  <a:pt x="6892592" y="0"/>
                </a:lnTo>
                <a:lnTo>
                  <a:pt x="6892592" y="9075616"/>
                </a:lnTo>
                <a:lnTo>
                  <a:pt x="0" y="9075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64" t="-5305" r="-6652" b="-495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74557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SERVER INITIALIZATION &amp; CONTROL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580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Responsibilities: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Memory Manager: Creates and manages shared memory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Client Registrar: Registers new clients with unique usernames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Message Router: Broadcasts messages to all clients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Cleanup Crew: Removes inactive clients automatically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Thread Explanation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The server has TWO threads: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 Thread: Handles GUI and user input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Cleanup Thread: Runs every 5 seconds to clean up disconnected clients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344540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server.cpp</a:t>
            </a: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(Server Setup)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56319" y="0"/>
            <a:ext cx="5831681" cy="10287000"/>
          </a:xfrm>
          <a:custGeom>
            <a:avLst/>
            <a:gdLst/>
            <a:ahLst/>
            <a:cxnLst/>
            <a:rect l="l" t="t" r="r" b="b"/>
            <a:pathLst>
              <a:path w="5831681" h="10287000">
                <a:moveTo>
                  <a:pt x="0" y="0"/>
                </a:moveTo>
                <a:lnTo>
                  <a:pt x="5831681" y="0"/>
                </a:lnTo>
                <a:lnTo>
                  <a:pt x="5831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08" t="-3747" r="-5264" b="-321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2252" y="375723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CLIENT CONNECTION PROCESS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532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Connection Steps: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Validate: Check username length and availability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Attach: Connect to shared memory (like opening a shared file)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Register: Reserve a spot in the client list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Listen: Start thread to receive messages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Spinlock Explanation: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clients_lock is a simple lock that "spins" (keeps checking) until it can acquire access. This prevents two clients from registering at the exact same time and causing conflicts.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30229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(Client Connection)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93096" y="1554883"/>
            <a:ext cx="8278355" cy="8558798"/>
          </a:xfrm>
          <a:custGeom>
            <a:avLst/>
            <a:gdLst/>
            <a:ahLst/>
            <a:cxnLst/>
            <a:rect l="l" t="t" r="r" b="b"/>
            <a:pathLst>
              <a:path w="8278355" h="8558798">
                <a:moveTo>
                  <a:pt x="0" y="0"/>
                </a:moveTo>
                <a:lnTo>
                  <a:pt x="8278355" y="0"/>
                </a:lnTo>
                <a:lnTo>
                  <a:pt x="8278355" y="8558798"/>
                </a:lnTo>
                <a:lnTo>
                  <a:pt x="0" y="855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00" t="-5356" r="-6508" b="-633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532128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MESSAGE BROADCASTING - SHARED MEMORY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483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Circular Buffer Concept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Imagine a circular track: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write_index: Where the next message will be placed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read_index: Where clients start reading from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When buffer is full, we overwrite the oldest message (FIFO - First In, First Out)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Circular Buffer?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Efficient memory usage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O(1) insert and retrieve operations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need to shift elements like in an array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server.cpp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(Broadcast Function)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03769" y="114034"/>
            <a:ext cx="6367682" cy="10058932"/>
          </a:xfrm>
          <a:custGeom>
            <a:avLst/>
            <a:gdLst/>
            <a:ahLst/>
            <a:cxnLst/>
            <a:rect l="l" t="t" r="r" b="b"/>
            <a:pathLst>
              <a:path w="6367682" h="10058932">
                <a:moveTo>
                  <a:pt x="0" y="0"/>
                </a:moveTo>
                <a:lnTo>
                  <a:pt x="6367682" y="0"/>
                </a:lnTo>
                <a:lnTo>
                  <a:pt x="6367682" y="10058932"/>
                </a:lnTo>
                <a:lnTo>
                  <a:pt x="0" y="100589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46" t="-3766" r="-5950" b="-37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2252" y="532128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CLIENT MESSAGE SENDING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532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Message Flow: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Lock: Prevent other clients from writing simultaneously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Write: Add message to circular buffer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Update: Move write pointer forward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Timestamp: Update client's "last seen" time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Unlock: Allow other clients to send messages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Atomic Operations: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.load() and .store() are atomic - they complete in one step without interruption, ensuring data consistency.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(Send Message)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60490" y="514350"/>
            <a:ext cx="7810961" cy="9591241"/>
          </a:xfrm>
          <a:custGeom>
            <a:avLst/>
            <a:gdLst/>
            <a:ahLst/>
            <a:cxnLst/>
            <a:rect l="l" t="t" r="r" b="b"/>
            <a:pathLst>
              <a:path w="7810961" h="9591241">
                <a:moveTo>
                  <a:pt x="0" y="0"/>
                </a:moveTo>
                <a:lnTo>
                  <a:pt x="7810961" y="0"/>
                </a:lnTo>
                <a:lnTo>
                  <a:pt x="7810961" y="9591241"/>
                </a:lnTo>
                <a:lnTo>
                  <a:pt x="0" y="9591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57" t="-4848" r="-5954" b="-441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080482" y="532128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CLIENT MESSAGE LISTENER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532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Listener Pattern: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This thread runs continuously in the background: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Sleeps 100ms: Prevents CPU hogging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Checks for messages: Looks at shared memory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Calls GUI callback: Updates UI when new message arrives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Updates activity: Keeps client marked as "active"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Callback System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When a message arrives, it calls message_callback() which updates the GUI. This separates networking code from UI code.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(Background Message Receiver)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94022" y="1218137"/>
            <a:ext cx="6277429" cy="8927386"/>
          </a:xfrm>
          <a:custGeom>
            <a:avLst/>
            <a:gdLst/>
            <a:ahLst/>
            <a:cxnLst/>
            <a:rect l="l" t="t" r="r" b="b"/>
            <a:pathLst>
              <a:path w="6277429" h="8927386">
                <a:moveTo>
                  <a:pt x="0" y="0"/>
                </a:moveTo>
                <a:lnTo>
                  <a:pt x="6277429" y="0"/>
                </a:lnTo>
                <a:lnTo>
                  <a:pt x="6277429" y="8927386"/>
                </a:lnTo>
                <a:lnTo>
                  <a:pt x="0" y="89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71" t="-4902" r="-7900" b="-55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78664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SOCKET-BASED SERVER - CORE STRUCTURE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479" y="3891176"/>
            <a:ext cx="9932559" cy="386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Socket Server Architecture: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Listen Socket: Waits for new connections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Client Sockets: One per connected client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Threads: One thread accepts connections, one per client handles communication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Message Queue: Stores incoming messages for GUI display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ChatServer.hpp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(Complete Class)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12155" y="175103"/>
            <a:ext cx="6659296" cy="9936794"/>
          </a:xfrm>
          <a:custGeom>
            <a:avLst/>
            <a:gdLst/>
            <a:ahLst/>
            <a:cxnLst/>
            <a:rect l="l" t="t" r="r" b="b"/>
            <a:pathLst>
              <a:path w="6659296" h="9936794">
                <a:moveTo>
                  <a:pt x="0" y="0"/>
                </a:moveTo>
                <a:lnTo>
                  <a:pt x="6659296" y="0"/>
                </a:lnTo>
                <a:lnTo>
                  <a:pt x="6659296" y="9936794"/>
                </a:lnTo>
                <a:lnTo>
                  <a:pt x="0" y="9936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72" t="-4027" r="-5547" b="-380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0" y="378664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SOCKET SERVER - STARTUP AND LISTENING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352" y="3451523"/>
            <a:ext cx="9932559" cy="629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Server Startup Steps:</a:t>
            </a:r>
          </a:p>
          <a:p>
            <a:pPr marL="600172" lvl="1" indent="-300086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WSAStartup: Initialize Windows Socket API (like starting a phone system)</a:t>
            </a:r>
          </a:p>
          <a:p>
            <a:pPr marL="600172" lvl="1" indent="-300086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socket(): Create endpoint for communication (like getting a phone)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bind(): Associate socket with IP and port (like getting a phone number)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listen(): Start accepting connections (like putting phone on speaker)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Thread: Start thread to handle incoming calls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Byte Order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htons() converts port number from host format to network format (different computers might store numbers differently).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ChatServer.cpp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(Server Startup)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76559" y="875237"/>
            <a:ext cx="7494892" cy="5833681"/>
          </a:xfrm>
          <a:custGeom>
            <a:avLst/>
            <a:gdLst/>
            <a:ahLst/>
            <a:cxnLst/>
            <a:rect l="l" t="t" r="r" b="b"/>
            <a:pathLst>
              <a:path w="7494892" h="5833681">
                <a:moveTo>
                  <a:pt x="0" y="0"/>
                </a:moveTo>
                <a:lnTo>
                  <a:pt x="7494892" y="0"/>
                </a:lnTo>
                <a:lnTo>
                  <a:pt x="7494892" y="5833680"/>
                </a:lnTo>
                <a:lnTo>
                  <a:pt x="0" y="583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72" t="-9071" r="-7648" b="-1020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80316" y="7180887"/>
            <a:ext cx="6235136" cy="2573717"/>
          </a:xfrm>
          <a:custGeom>
            <a:avLst/>
            <a:gdLst/>
            <a:ahLst/>
            <a:cxnLst/>
            <a:rect l="l" t="t" r="r" b="b"/>
            <a:pathLst>
              <a:path w="6235136" h="2573717">
                <a:moveTo>
                  <a:pt x="0" y="0"/>
                </a:moveTo>
                <a:lnTo>
                  <a:pt x="6235136" y="0"/>
                </a:lnTo>
                <a:lnTo>
                  <a:pt x="6235136" y="2573717"/>
                </a:lnTo>
                <a:lnTo>
                  <a:pt x="0" y="25737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78664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SOCKET SERVER - ACCEPTING CLIENTS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3352" y="2883031"/>
            <a:ext cx="9932559" cy="337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accept() works: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Blocks: Waits until a client connects (like waiting for a phone call)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Returns: New socket for communicating with that specific client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Each client gets its own socket: Like each caller gets their own phone 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3352" y="190144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ChatServer.cpp</a:t>
            </a: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(Client Acceptance Thread)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4186" y="7114212"/>
            <a:ext cx="5207437" cy="580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0"/>
              </a:lnSpc>
              <a:spcBef>
                <a:spcPct val="0"/>
              </a:spcBef>
            </a:pPr>
            <a:r>
              <a:rPr lang="en-US" sz="339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Thread per Client Model: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352" y="8309737"/>
            <a:ext cx="10263565" cy="948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  <a:spcBef>
                <a:spcPct val="0"/>
              </a:spcBef>
            </a:pPr>
            <a:r>
              <a:rPr lang="en-US" sz="278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detach()?</a:t>
            </a:r>
            <a:r>
              <a:rPr lang="en-US" sz="278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thread runs independently. When client disconnects, thread automatically cleans up.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465911" y="1901071"/>
            <a:ext cx="7465056" cy="7779930"/>
          </a:xfrm>
          <a:custGeom>
            <a:avLst/>
            <a:gdLst/>
            <a:ahLst/>
            <a:cxnLst/>
            <a:rect l="l" t="t" r="r" b="b"/>
            <a:pathLst>
              <a:path w="7465056" h="7779930">
                <a:moveTo>
                  <a:pt x="0" y="0"/>
                </a:moveTo>
                <a:lnTo>
                  <a:pt x="7465056" y="0"/>
                </a:lnTo>
                <a:lnTo>
                  <a:pt x="7465056" y="7779931"/>
                </a:lnTo>
                <a:lnTo>
                  <a:pt x="0" y="7779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554" t="-7461" r="-7776" b="-832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55952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SOCKET SERVER - HANDLING CLIENT COMMUNICATION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352" y="3335415"/>
            <a:ext cx="9932559" cy="629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Message Flow per Client:</a:t>
            </a:r>
          </a:p>
          <a:p>
            <a:pPr marL="600172" lvl="1" indent="-300086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recv(): Wait for message from client (like listening on phone)</a:t>
            </a:r>
          </a:p>
          <a:p>
            <a:pPr marL="600172" lvl="1" indent="-300086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Process: Convert raw bytes to string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Broadcast: Send to all other clients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Queue: Store for server GUI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Cleanup: When client hangs up, remove them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Buffer Management: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buffer[1024]: Can receive up to 1023 characters + null terminator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n: Actual number of bytes received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buffer[n] = '\0': Makes it a proper C-string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33352" y="2529646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ChatServer.cpp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(Client Handler Thread)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55774" y="3599717"/>
            <a:ext cx="7839713" cy="3788941"/>
          </a:xfrm>
          <a:custGeom>
            <a:avLst/>
            <a:gdLst/>
            <a:ahLst/>
            <a:cxnLst/>
            <a:rect l="l" t="t" r="r" b="b"/>
            <a:pathLst>
              <a:path w="7839713" h="3788941">
                <a:moveTo>
                  <a:pt x="0" y="0"/>
                </a:moveTo>
                <a:lnTo>
                  <a:pt x="7839713" y="0"/>
                </a:lnTo>
                <a:lnTo>
                  <a:pt x="7839713" y="3788941"/>
                </a:lnTo>
                <a:lnTo>
                  <a:pt x="0" y="378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65" t="-14964" r="-6819" b="-1795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55952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SOCKET SERVER - BROADCASTING MESSAGES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352" y="4109957"/>
            <a:ext cx="9932559" cy="434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Broadcast Logic: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Lock: Prevent client list changes during broadcast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Loop: Iterate through all connected clients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Skip sender: Don't echo message back to sender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send(): Transmit message over network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Thread Safety: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std::lock_guard automatically locks the mutex when created and unlocks when destroyed (RAII pattern).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4368" y="252034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ChatServer.cpp</a:t>
            </a: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(Broadcast Function)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38345" y="1717598"/>
            <a:ext cx="6845423" cy="8252733"/>
          </a:xfrm>
          <a:custGeom>
            <a:avLst/>
            <a:gdLst/>
            <a:ahLst/>
            <a:cxnLst/>
            <a:rect l="l" t="t" r="r" b="b"/>
            <a:pathLst>
              <a:path w="6845423" h="8252733">
                <a:moveTo>
                  <a:pt x="0" y="0"/>
                </a:moveTo>
                <a:lnTo>
                  <a:pt x="6845423" y="0"/>
                </a:lnTo>
                <a:lnTo>
                  <a:pt x="6845423" y="8252733"/>
                </a:lnTo>
                <a:lnTo>
                  <a:pt x="0" y="8252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33" t="-4917" r="-5674" b="-512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24842" y="355952"/>
            <a:ext cx="11838315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SOCKET CLIENT - CONNECTION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352" y="4109957"/>
            <a:ext cx="9932559" cy="532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 Connection Steps:</a:t>
            </a:r>
          </a:p>
          <a:p>
            <a:pPr marL="600172" lvl="1" indent="-300086" algn="l">
              <a:lnSpc>
                <a:spcPts val="3891"/>
              </a:lnSpc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Initialize: Start Windows Socket API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Socket: Get communication endpoint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Configure: Set server IP and port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Connect: Establish TCP connection (3-way handshake)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AutoNum type="arabicPeriod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Non-blocking: Make socket non-blocking for GUI responsiveness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Non-blocking Mode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Without this, recv() would freeze GUI while waiting for messages. With non-blocking, it returns immediately if no data available.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4368" y="252034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ChatClient.cpp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(Client Connection)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606892" y="0"/>
            <a:ext cx="4564559" cy="10152186"/>
          </a:xfrm>
          <a:custGeom>
            <a:avLst/>
            <a:gdLst/>
            <a:ahLst/>
            <a:cxnLst/>
            <a:rect l="l" t="t" r="r" b="b"/>
            <a:pathLst>
              <a:path w="4564559" h="10152186">
                <a:moveTo>
                  <a:pt x="0" y="0"/>
                </a:moveTo>
                <a:lnTo>
                  <a:pt x="4564559" y="0"/>
                </a:lnTo>
                <a:lnTo>
                  <a:pt x="4564559" y="10152186"/>
                </a:lnTo>
                <a:lnTo>
                  <a:pt x="0" y="10152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9" t="-3781" r="-8411" b="-321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3352" y="356896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SLIDE 16: SOCKET CLIENT - MESSAGE SENDING/RECEIVING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352" y="4109957"/>
            <a:ext cx="9932559" cy="483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Message Handling: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send(): Transmits data to server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recv(): Receives data from server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select(): Checks if data available without blocking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Error Handling: Differentiates between real errors and "no data available"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select()?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Instead of calling recv() and potentially blocking, we first check if data is ready. This keeps GUI responsive.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4368" y="252034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ChatClient.cpp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(Message Operations)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27519" y="302988"/>
            <a:ext cx="7178234" cy="8334915"/>
          </a:xfrm>
          <a:custGeom>
            <a:avLst/>
            <a:gdLst/>
            <a:ahLst/>
            <a:cxnLst/>
            <a:rect l="l" t="t" r="r" b="b"/>
            <a:pathLst>
              <a:path w="7178234" h="8334915">
                <a:moveTo>
                  <a:pt x="0" y="0"/>
                </a:moveTo>
                <a:lnTo>
                  <a:pt x="7178233" y="0"/>
                </a:lnTo>
                <a:lnTo>
                  <a:pt x="7178233" y="8334915"/>
                </a:lnTo>
                <a:lnTo>
                  <a:pt x="0" y="8334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79" t="-4656" r="-6952" b="-565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4854912"/>
            <a:ext cx="8296599" cy="1958919"/>
          </a:xfrm>
          <a:custGeom>
            <a:avLst/>
            <a:gdLst/>
            <a:ahLst/>
            <a:cxnLst/>
            <a:rect l="l" t="t" r="r" b="b"/>
            <a:pathLst>
              <a:path w="8296599" h="1958919">
                <a:moveTo>
                  <a:pt x="0" y="0"/>
                </a:moveTo>
                <a:lnTo>
                  <a:pt x="8296599" y="0"/>
                </a:lnTo>
                <a:lnTo>
                  <a:pt x="8296599" y="1958919"/>
                </a:lnTo>
                <a:lnTo>
                  <a:pt x="0" y="1958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719951" y="24583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GUI APPLICATION - MODE SELECTION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760" y="3798913"/>
            <a:ext cx="9932559" cy="462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Machine Design: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6231" y="183898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ChatGui.hpp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(Application State)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7760" y="8207514"/>
            <a:ext cx="9932559" cy="94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  <a:spcBef>
                <a:spcPct val="0"/>
              </a:spcBef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Pointers</a:t>
            </a: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std::unique_ptr automatically manages memory - deletes objects when they go out of scope.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07547" y="1028700"/>
            <a:ext cx="6027632" cy="9089026"/>
          </a:xfrm>
          <a:custGeom>
            <a:avLst/>
            <a:gdLst/>
            <a:ahLst/>
            <a:cxnLst/>
            <a:rect l="l" t="t" r="r" b="b"/>
            <a:pathLst>
              <a:path w="6027632" h="9089026">
                <a:moveTo>
                  <a:pt x="0" y="0"/>
                </a:moveTo>
                <a:lnTo>
                  <a:pt x="6027632" y="0"/>
                </a:lnTo>
                <a:lnTo>
                  <a:pt x="6027632" y="9089026"/>
                </a:lnTo>
                <a:lnTo>
                  <a:pt x="0" y="908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02" t="-4312" r="-6260" b="-402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044107" y="53212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GUI - SERVER VIEW RENDERING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064" y="3480945"/>
            <a:ext cx="9932559" cy="4834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 Features: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Color Coding: Different message types in different colors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Handling: Both button click and Enter key support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State Management: Proper cleanup when switching modes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Scrollable Area: Messages displayed in scrollable child window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6231" y="183898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ChatGui.cpp 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(Server GUI Rendering)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33208" y="96382"/>
            <a:ext cx="3940702" cy="10094237"/>
          </a:xfrm>
          <a:custGeom>
            <a:avLst/>
            <a:gdLst/>
            <a:ahLst/>
            <a:cxnLst/>
            <a:rect l="l" t="t" r="r" b="b"/>
            <a:pathLst>
              <a:path w="3940702" h="10094237">
                <a:moveTo>
                  <a:pt x="0" y="0"/>
                </a:moveTo>
                <a:lnTo>
                  <a:pt x="3940702" y="0"/>
                </a:lnTo>
                <a:lnTo>
                  <a:pt x="3940702" y="10094236"/>
                </a:lnTo>
                <a:lnTo>
                  <a:pt x="0" y="10094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57" t="-3781" r="-10225" b="-321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46212" y="370860"/>
            <a:ext cx="7795576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BUILD SYSTEM CONFIGURATION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6064" y="3480945"/>
            <a:ext cx="9932559" cy="3377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CMake Components: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Project Setup: Defines project name and C++ version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Source Files: Groups related source files</a:t>
            </a:r>
          </a:p>
          <a:p>
            <a:pPr marL="600172" lvl="1" indent="-300086" algn="l">
              <a:lnSpc>
                <a:spcPts val="3891"/>
              </a:lnSpc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Executable: Creates ChatServer.exe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Libraries: Links required Windows and DirectX libraries</a:t>
            </a:r>
          </a:p>
          <a:p>
            <a:pPr marL="600172" lvl="1" indent="-300086" algn="l">
              <a:lnSpc>
                <a:spcPts val="3891"/>
              </a:lnSpc>
              <a:spcBef>
                <a:spcPct val="0"/>
              </a:spcBef>
              <a:buFont typeface="Arial"/>
              <a:buChar char="•"/>
            </a:pPr>
            <a:r>
              <a:rPr lang="en-US" sz="2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Output: Sets where executable will be created</a:t>
            </a:r>
          </a:p>
          <a:p>
            <a:pPr algn="l">
              <a:lnSpc>
                <a:spcPts val="3891"/>
              </a:lnSpc>
              <a:spcBef>
                <a:spcPct val="0"/>
              </a:spcBef>
            </a:pPr>
            <a:endParaRPr lang="en-US" sz="277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6231" y="1838983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e: </a:t>
            </a:r>
            <a:r>
              <a:rPr lang="en-US" sz="3000" b="1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CMakeLists.txt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(Shared Memory</a:t>
            </a:r>
            <a:r>
              <a:rPr lang="en-US" sz="30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System</a:t>
            </a: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74466" y="2253560"/>
            <a:ext cx="12539068" cy="7898535"/>
          </a:xfrm>
          <a:custGeom>
            <a:avLst/>
            <a:gdLst/>
            <a:ahLst/>
            <a:cxnLst/>
            <a:rect l="l" t="t" r="r" b="b"/>
            <a:pathLst>
              <a:path w="12539068" h="7898535">
                <a:moveTo>
                  <a:pt x="0" y="0"/>
                </a:moveTo>
                <a:lnTo>
                  <a:pt x="12539068" y="0"/>
                </a:lnTo>
                <a:lnTo>
                  <a:pt x="12539068" y="7898535"/>
                </a:lnTo>
                <a:lnTo>
                  <a:pt x="0" y="7898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66" t="-10959" r="-6318" b="-1043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77550" y="53212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PERFORMANCE COMPARISON &amp;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430858" y="1355380"/>
            <a:ext cx="861064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sz="30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erforman</a:t>
            </a: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 Metrics :</a:t>
            </a: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53212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ERROR HANDLING &amp; ROBUSTNESS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510847" y="1574455"/>
            <a:ext cx="861064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</a:t>
            </a:r>
            <a:r>
              <a:rPr lang="en-US" sz="35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</a:t>
            </a: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 Memory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9956" y="2290581"/>
            <a:ext cx="7620939" cy="74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Failure Scenarios: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</a:t>
            </a:r>
            <a:r>
              <a:rPr lang="en-US" sz="2655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</a:t>
            </a: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ed Memory Creation Failure: Fallback to error state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Username Collision: Immediate feedback to user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 Timeout: Automatic cleanup after 30 seconds</a:t>
            </a:r>
          </a:p>
          <a:p>
            <a:pPr marL="573253" lvl="1" indent="-286627" algn="l">
              <a:lnSpc>
                <a:spcPts val="3717"/>
              </a:lnSpc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Buffer Overflow: Circular buffer with overwrite logic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Recovery Mechanisms: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Graceful Shutdown: Proper resource cleanup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Atomic State Transitions: Prevent partial updates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Memory Consistency Checks: Validate shared structures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57372" y="1574455"/>
            <a:ext cx="861064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Socket-B</a:t>
            </a:r>
            <a:r>
              <a:rPr lang="en-US" sz="3500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</a:t>
            </a: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39325" y="2290581"/>
            <a:ext cx="7620939" cy="699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Netwo</a:t>
            </a:r>
            <a:r>
              <a:rPr lang="en-US" sz="2655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rk</a:t>
            </a: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Error Handling: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Connection Failure: Retry logic with exponential backoff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Socket Errors: WSAGetLastError() diagnostic information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 Disconnection: Automatic cleanup and notification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AutoNum type="arabicPeriod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 Conflicts: Alternative port suggestion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Robustness Features: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Non-blocking I/O: Prevents GUI freezing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Heartbeat Mechanism: Connection liveliness verification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Queuing: Handle temporary network disruptions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endParaRPr lang="en-US" sz="26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 rot="5400000">
            <a:off x="2386414" y="5498625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-----------------------------------------------</a:t>
            </a: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53212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TESTING 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982656" y="1203813"/>
            <a:ext cx="8610648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Categories &amp; Results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44104" y="2452566"/>
            <a:ext cx="7620939" cy="419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</a:t>
            </a:r>
            <a:r>
              <a:rPr lang="en-US" sz="2655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ress</a:t>
            </a: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Testing: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Maximum Client Load: System behavior at capacity limits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Flood: High-frequency message processing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Long-running Stability: 24-hour continuous operation test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Error Recovery: Simulated failure scenarios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endParaRPr lang="en-US" sz="26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 rot="5400000">
            <a:off x="2232223" y="6078497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5153" y="2452566"/>
            <a:ext cx="7620939" cy="325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 Testing: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Basic message sending/receiving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Multiple client connections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Username uniqueness validation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Server broadcast functionality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Client disconnection handling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endParaRPr lang="en-US" sz="26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5153" y="5689761"/>
            <a:ext cx="7620939" cy="4190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Testing: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Latency Measurement: Shared memory vs. socket latency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Throughput Analysis: Messages per second capability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Memory Usage: Heap and shared memory consumption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CPU Utilization: Thread efficiency measurements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44104" y="6520564"/>
            <a:ext cx="7620939" cy="372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  <a:spcBef>
                <a:spcPct val="0"/>
              </a:spcBef>
            </a:pP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2655" b="1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ross-Platform</a:t>
            </a:r>
            <a:r>
              <a:rPr lang="en-US" sz="265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Testing: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Windows 10/11: Primary development platform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Linux Compatibility: Shared memory system portability</a:t>
            </a:r>
          </a:p>
          <a:p>
            <a:pPr marL="573253" lvl="1" indent="-286627" algn="l">
              <a:lnSpc>
                <a:spcPts val="3717"/>
              </a:lnSpc>
              <a:spcBef>
                <a:spcPct val="0"/>
              </a:spcBef>
              <a:buFont typeface="Arial"/>
              <a:buChar char="•"/>
            </a:pPr>
            <a:r>
              <a:rPr lang="en-US" sz="2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Compatibility: Cross-VM and physical network tests</a:t>
            </a:r>
          </a:p>
          <a:p>
            <a:pPr algn="l">
              <a:lnSpc>
                <a:spcPts val="3717"/>
              </a:lnSpc>
              <a:spcBef>
                <a:spcPct val="0"/>
              </a:spcBef>
            </a:pPr>
            <a:endParaRPr lang="en-US" sz="265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532128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IMPLEMENTATION CHALLENGES &amp; SOLUTIONS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2579" y="1450664"/>
            <a:ext cx="17247903" cy="855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2"/>
              </a:lnSpc>
            </a:pPr>
            <a:r>
              <a:rPr lang="en-US" sz="337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1:</a:t>
            </a:r>
            <a:r>
              <a:rPr lang="en-US" sz="33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Cross-Platform IPC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Different OS APIs for shared memory management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Solution: Abstracted platform layer with #ifdef _WIN32 conditional compilation</a:t>
            </a:r>
          </a:p>
          <a:p>
            <a:pPr algn="l">
              <a:lnSpc>
                <a:spcPts val="4722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2:</a:t>
            </a:r>
            <a:r>
              <a:rPr lang="en-US" sz="33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Thread Synchronization Deadlocks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Complex lock hierarchies causing deadlocks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Solution: Adopted lock-free design with atomic operations and careful memory ordering</a:t>
            </a:r>
          </a:p>
          <a:p>
            <a:pPr algn="l">
              <a:lnSpc>
                <a:spcPts val="4722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3:</a:t>
            </a:r>
            <a:r>
              <a:rPr lang="en-US" sz="33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GUI Responsiveness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Network/IO operations blocking GUI thread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Solution: Implemented non-blocking sockets and separate worker threads</a:t>
            </a:r>
          </a:p>
          <a:p>
            <a:pPr algn="l">
              <a:lnSpc>
                <a:spcPts val="4722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4:</a:t>
            </a:r>
            <a:r>
              <a:rPr lang="en-US" sz="33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Memory Management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Proper cleanup of shared resources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Solution: RAII pattern combined with reference counting</a:t>
            </a:r>
          </a:p>
          <a:p>
            <a:pPr algn="l">
              <a:lnSpc>
                <a:spcPts val="4722"/>
              </a:lnSpc>
              <a:spcBef>
                <a:spcPct val="0"/>
              </a:spcBef>
            </a:pPr>
            <a:r>
              <a:rPr lang="en-US" sz="337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Challenge 5:</a:t>
            </a:r>
            <a:r>
              <a:rPr lang="en-US" sz="33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Build System Complexity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Problem: Multiple dependencies and configurations</a:t>
            </a:r>
          </a:p>
          <a:p>
            <a:pPr marL="685161" lvl="1" indent="-342581" algn="l">
              <a:lnSpc>
                <a:spcPts val="4442"/>
              </a:lnSpc>
              <a:buFont typeface="Arial"/>
              <a:buChar char="•"/>
            </a:pPr>
            <a:r>
              <a:rPr lang="en-US" sz="31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Solution: Modular CMake configuration with conditional compilation</a:t>
            </a: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312416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LEARNING OUTCOMES &amp; SKILLS DEVELOPED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1669" y="2073359"/>
            <a:ext cx="7210634" cy="306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 C++ Programming: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Modern C++17 features (smart pointers, lambdas, atomic operations)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Template metaprogramming and RAII patterns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Memory management and optimization techniques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1681339" y="5398532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----------------------------------------------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0761" y="1119752"/>
            <a:ext cx="3924776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TECHNICAL SKILLS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191" y="5589668"/>
            <a:ext cx="5446990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SYSTEMS PROGRAMMING: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0761" y="6636061"/>
            <a:ext cx="7210634" cy="262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Inter-process Communication (IPC) mechanisms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Thread synchronization and concurrency control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Network programming with sockets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Cross-platform development techniques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24675" y="1136233"/>
            <a:ext cx="4105632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GUI DEVELOPMENT: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6125" y="2073359"/>
            <a:ext cx="7210634" cy="218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Dear ImGui framework integration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DirectX 11 and OpenGL graphics programming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Real-time rendering and event handling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interface state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24675" y="5589668"/>
            <a:ext cx="7019092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SOFTWARE ENGINEERING SKILLS: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6636061"/>
            <a:ext cx="7210634" cy="174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Version control with Git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CMake build system configuration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Debugging and profiling techniques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Documentation and presentation skills</a:t>
            </a:r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6708" y="485491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312416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FUTURE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8869" y="2632003"/>
            <a:ext cx="7210634" cy="306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Encryption: Secure message transmission within shared memory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File Transfer: Support for binary file sharing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Voice Chat: Real-time audio communication integration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Database Backend: Persistent message storage with SQLite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1681339" y="5398532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----------------------------------------------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119752"/>
            <a:ext cx="6921410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SHORT-TERM IMPROVEMENTS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869" y="6636061"/>
            <a:ext cx="7210634" cy="3498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SSL/TLS Support: Encrypted network communication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Room-based Chat: Multiple chat room support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Authentication: Login system with credentials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Persistence: Server-side message history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4645" y="1119752"/>
            <a:ext cx="4044672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LONG-TERM VISION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4120" y="2815630"/>
            <a:ext cx="7210634" cy="2622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Combine shared memory efficiency with network scalability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Automatic fallback between IPC methods based on client location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Distributed shared memory across network nodes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4120" y="6636061"/>
            <a:ext cx="7210634" cy="174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Video conferencing capabilities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Screen sharing functionality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Mobile client applications</a:t>
            </a:r>
          </a:p>
          <a:p>
            <a:pPr marL="542390" lvl="1" indent="-271195" algn="l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Cloud deployment and scalability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8372" y="1850953"/>
            <a:ext cx="72106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Memory System: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372" y="5959093"/>
            <a:ext cx="72106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Socket-Based System: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1931763"/>
            <a:ext cx="72106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Unified Hybrid System: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5959093"/>
            <a:ext cx="72106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Features:</a:t>
            </a: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69604">
            <a:off x="12159467" y="-2228596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5400000">
            <a:off x="-1295081" y="6357317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7" y="0"/>
                </a:lnTo>
                <a:lnTo>
                  <a:pt x="3173847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7745385" y="1194171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611807" y="373116"/>
            <a:ext cx="11064387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 CONCLUSION &amp; SUMMARY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1843" y="2466083"/>
            <a:ext cx="9256693" cy="315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Successfully Implemented: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Two complete chat systems with different IPC approaches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Professional-grade GUI interfaces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Robust multithreading and synchronization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Comprehensive error handling and recovery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Cross-platform compatibility foundations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Production-ready build system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0" y="1447048"/>
            <a:ext cx="655447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Achievements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31307" y="2301455"/>
            <a:ext cx="9256693" cy="394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Innovations: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Hybrid Locking Strategy: Combined atomic operations with traditional locks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Circular Buffer Optimization: Efficient memory usage for message history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Dual GUI Framework Support: DirectX 11 and OpenGL implementations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Modular Architecture: Clean separation of concerns and reusable components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91843" y="6490884"/>
            <a:ext cx="11217324" cy="3283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Educational Value:</a:t>
            </a:r>
          </a:p>
          <a:p>
            <a:pPr marL="575583" lvl="1" indent="-287792" algn="l">
              <a:lnSpc>
                <a:spcPts val="3732"/>
              </a:lnSpc>
              <a:buFont typeface="Arial"/>
              <a:buChar char="•"/>
            </a:pPr>
            <a:r>
              <a:rPr lang="en-US" sz="26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Deep understanding of IPC mechanisms and trade-offs</a:t>
            </a:r>
          </a:p>
          <a:p>
            <a:pPr marL="575583" lvl="1" indent="-287792" algn="l">
              <a:lnSpc>
                <a:spcPts val="3732"/>
              </a:lnSpc>
              <a:buFont typeface="Arial"/>
              <a:buChar char="•"/>
            </a:pPr>
            <a:r>
              <a:rPr lang="en-US" sz="26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Hands-on experience with modern C++ concurrency features</a:t>
            </a:r>
          </a:p>
          <a:p>
            <a:pPr marL="575583" lvl="1" indent="-287792" algn="l">
              <a:lnSpc>
                <a:spcPts val="3732"/>
              </a:lnSpc>
              <a:buFont typeface="Arial"/>
              <a:buChar char="•"/>
            </a:pPr>
            <a:r>
              <a:rPr lang="en-US" sz="26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Practical knowledge of network programming and GUI development</a:t>
            </a:r>
          </a:p>
          <a:p>
            <a:pPr marL="575583" lvl="1" indent="-287792" algn="l">
              <a:lnSpc>
                <a:spcPts val="3732"/>
              </a:lnSpc>
              <a:buFont typeface="Arial"/>
              <a:buChar char="•"/>
            </a:pPr>
            <a:r>
              <a:rPr lang="en-US" sz="26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Experience with professional software development workflows</a:t>
            </a:r>
          </a:p>
          <a:p>
            <a:pPr algn="l">
              <a:lnSpc>
                <a:spcPts val="3732"/>
              </a:lnSpc>
              <a:spcBef>
                <a:spcPct val="0"/>
              </a:spcBef>
            </a:pPr>
            <a:endParaRPr lang="en-US" sz="266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 rot="5400000">
            <a:off x="2386414" y="4047387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</a:t>
            </a: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6708" y="485491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312416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DEMO &amp; LIVE DEMONSTRATION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7719" y="2828011"/>
            <a:ext cx="8831381" cy="694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 1: Shared Memory System</a:t>
            </a: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Launch ChatServer.exe (DirectX 11 GUI)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 multiple ChatClient.exe instances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Demonstrate real-time messaging between clients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 server broadcast functionality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client disconnection and reconnection</a:t>
            </a:r>
          </a:p>
          <a:p>
            <a:pPr algn="l">
              <a:lnSpc>
                <a:spcPts val="3517"/>
              </a:lnSpc>
            </a:pPr>
            <a:endParaRPr lang="en-US" sz="2512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 2: Socket-Based System</a:t>
            </a:r>
          </a:p>
          <a:p>
            <a:pPr algn="l">
              <a:lnSpc>
                <a:spcPts val="4200"/>
              </a:lnSpc>
            </a:pPr>
            <a:endParaRPr lang="en-US" sz="30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Launch Server.exe (OpenGL GUI) on one machine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Launch Client.exe on multiple machines (or VMs)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Demonstrate cross-machine communication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 network disconnection handling</a:t>
            </a:r>
          </a:p>
          <a:p>
            <a:pPr marL="542390" lvl="1" indent="-271195" algn="l">
              <a:lnSpc>
                <a:spcPts val="3517"/>
              </a:lnSpc>
              <a:buAutoNum type="arabicPeriod"/>
            </a:pPr>
            <a:r>
              <a:rPr lang="en-US" sz="25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high-volume message throughput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2693562" y="5793492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----------------------------------------------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1569657"/>
            <a:ext cx="6921410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SHORT-TERM IMPROVEMENTS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0975" y="4339914"/>
            <a:ext cx="8239334" cy="1986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Side-by-side performance comparison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Latency measurement demonstration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Resource usage analysis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Scalability limitations showcase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84145" y="3325890"/>
            <a:ext cx="45994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Comparative Demo:</a:t>
            </a: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6708" y="485491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4516636" y="3383040"/>
            <a:ext cx="3173847" cy="2943743"/>
          </a:xfrm>
          <a:custGeom>
            <a:avLst/>
            <a:gdLst/>
            <a:ahLst/>
            <a:cxnLst/>
            <a:rect l="l" t="t" r="r" b="b"/>
            <a:pathLst>
              <a:path w="3173847" h="2943743">
                <a:moveTo>
                  <a:pt x="0" y="0"/>
                </a:moveTo>
                <a:lnTo>
                  <a:pt x="3173846" y="0"/>
                </a:lnTo>
                <a:lnTo>
                  <a:pt x="3173846" y="2943743"/>
                </a:lnTo>
                <a:lnTo>
                  <a:pt x="0" y="2943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77550" y="312416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TECHNICAL SPECIFICATIONS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2619" y="2885161"/>
            <a:ext cx="8831381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Minimum Requirements: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OS: Windows 10/11 (Shared Memory), Windows/Linux (Network)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CPU: Dual-core processor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RAM: 4GB system memory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GPU: DirectX 11 or OpenGL 3.0 compatible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Storage: 100MB free space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Development Environment: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Compiler: MSVC 2019+ or GCC 9+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System: CMake 3.10+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Libraries: Dear ImGui, GLFW3, Windows SDK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Tools: Git, Visual Studio/VSCode</a:t>
            </a:r>
          </a:p>
        </p:txBody>
      </p:sp>
      <p:sp>
        <p:nvSpPr>
          <p:cNvPr id="9" name="TextBox 9"/>
          <p:cNvSpPr txBox="1"/>
          <p:nvPr/>
        </p:nvSpPr>
        <p:spPr>
          <a:xfrm rot="5400000">
            <a:off x="2693562" y="5793492"/>
            <a:ext cx="13132900" cy="49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----------------------------------------------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292631" y="1794757"/>
            <a:ext cx="6921410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SYSTEM REQUIREMENTS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117" y="2885161"/>
            <a:ext cx="8239334" cy="298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Latency: &lt;1ms (Shared Memory), &lt;10ms (Network)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Maximum Clients: 50 (Shared Memory), 1000+ (Network)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Memory Usage: ~50MB per client instance</a:t>
            </a:r>
          </a:p>
          <a:p>
            <a:pPr marL="619770" lvl="1" indent="-309885" algn="l">
              <a:lnSpc>
                <a:spcPts val="4018"/>
              </a:lnSpc>
              <a:buFont typeface="Arial"/>
              <a:buChar char="•"/>
            </a:pPr>
            <a:r>
              <a:rPr lang="en-US" sz="28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Startup Time: &lt;2 seconds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1726" y="1794757"/>
            <a:ext cx="6921410" cy="497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906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PERFORMANCE METRICS:</a:t>
            </a: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6918" y="4647111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69604">
            <a:off x="13352499" y="-2341146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984631" y="3673705"/>
            <a:ext cx="12334754" cy="973406"/>
            <a:chOff x="0" y="0"/>
            <a:chExt cx="1649762" cy="1301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9762" cy="130192"/>
            </a:xfrm>
            <a:custGeom>
              <a:avLst/>
              <a:gdLst/>
              <a:ahLst/>
              <a:cxnLst/>
              <a:rect l="l" t="t" r="r" b="b"/>
              <a:pathLst>
                <a:path w="1649762" h="130192">
                  <a:moveTo>
                    <a:pt x="15691" y="0"/>
                  </a:moveTo>
                  <a:lnTo>
                    <a:pt x="1634071" y="0"/>
                  </a:lnTo>
                  <a:cubicBezTo>
                    <a:pt x="1642737" y="0"/>
                    <a:pt x="1649762" y="7025"/>
                    <a:pt x="1649762" y="15691"/>
                  </a:cubicBezTo>
                  <a:lnTo>
                    <a:pt x="1649762" y="114501"/>
                  </a:lnTo>
                  <a:cubicBezTo>
                    <a:pt x="1649762" y="123167"/>
                    <a:pt x="1642737" y="130192"/>
                    <a:pt x="1634071" y="130192"/>
                  </a:cubicBezTo>
                  <a:lnTo>
                    <a:pt x="15691" y="130192"/>
                  </a:lnTo>
                  <a:cubicBezTo>
                    <a:pt x="7025" y="130192"/>
                    <a:pt x="0" y="123167"/>
                    <a:pt x="0" y="114501"/>
                  </a:cubicBezTo>
                  <a:lnTo>
                    <a:pt x="0" y="15691"/>
                  </a:lnTo>
                  <a:cubicBezTo>
                    <a:pt x="0" y="7025"/>
                    <a:pt x="7025" y="0"/>
                    <a:pt x="1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49762" cy="16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5400000">
            <a:off x="-5297747" y="286802"/>
            <a:ext cx="7911769" cy="7338166"/>
          </a:xfrm>
          <a:custGeom>
            <a:avLst/>
            <a:gdLst/>
            <a:ahLst/>
            <a:cxnLst/>
            <a:rect l="l" t="t" r="r" b="b"/>
            <a:pathLst>
              <a:path w="7911769" h="7338166">
                <a:moveTo>
                  <a:pt x="0" y="0"/>
                </a:moveTo>
                <a:lnTo>
                  <a:pt x="7911769" y="0"/>
                </a:lnTo>
                <a:lnTo>
                  <a:pt x="7911769" y="7338165"/>
                </a:lnTo>
                <a:lnTo>
                  <a:pt x="0" y="7338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5850109" y="4756510"/>
            <a:ext cx="9812154" cy="9100773"/>
          </a:xfrm>
          <a:custGeom>
            <a:avLst/>
            <a:gdLst/>
            <a:ahLst/>
            <a:cxnLst/>
            <a:rect l="l" t="t" r="r" b="b"/>
            <a:pathLst>
              <a:path w="9812154" h="9100773">
                <a:moveTo>
                  <a:pt x="0" y="0"/>
                </a:moveTo>
                <a:lnTo>
                  <a:pt x="9812154" y="0"/>
                </a:lnTo>
                <a:lnTo>
                  <a:pt x="9812154" y="9100773"/>
                </a:lnTo>
                <a:lnTo>
                  <a:pt x="0" y="9100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00763" y="779355"/>
            <a:ext cx="908647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OUR TEAM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984631" y="5030950"/>
            <a:ext cx="12334754" cy="973406"/>
            <a:chOff x="0" y="0"/>
            <a:chExt cx="1649762" cy="1301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762" cy="130192"/>
            </a:xfrm>
            <a:custGeom>
              <a:avLst/>
              <a:gdLst/>
              <a:ahLst/>
              <a:cxnLst/>
              <a:rect l="l" t="t" r="r" b="b"/>
              <a:pathLst>
                <a:path w="1649762" h="130192">
                  <a:moveTo>
                    <a:pt x="15691" y="0"/>
                  </a:moveTo>
                  <a:lnTo>
                    <a:pt x="1634071" y="0"/>
                  </a:lnTo>
                  <a:cubicBezTo>
                    <a:pt x="1642737" y="0"/>
                    <a:pt x="1649762" y="7025"/>
                    <a:pt x="1649762" y="15691"/>
                  </a:cubicBezTo>
                  <a:lnTo>
                    <a:pt x="1649762" y="114501"/>
                  </a:lnTo>
                  <a:cubicBezTo>
                    <a:pt x="1649762" y="123167"/>
                    <a:pt x="1642737" y="130192"/>
                    <a:pt x="1634071" y="130192"/>
                  </a:cubicBezTo>
                  <a:lnTo>
                    <a:pt x="15691" y="130192"/>
                  </a:lnTo>
                  <a:cubicBezTo>
                    <a:pt x="7025" y="130192"/>
                    <a:pt x="0" y="123167"/>
                    <a:pt x="0" y="114501"/>
                  </a:cubicBezTo>
                  <a:lnTo>
                    <a:pt x="0" y="15691"/>
                  </a:lnTo>
                  <a:cubicBezTo>
                    <a:pt x="0" y="7025"/>
                    <a:pt x="7025" y="0"/>
                    <a:pt x="1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49762" cy="16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84631" y="6302740"/>
            <a:ext cx="12334754" cy="973406"/>
            <a:chOff x="0" y="0"/>
            <a:chExt cx="1649762" cy="1301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9762" cy="130192"/>
            </a:xfrm>
            <a:custGeom>
              <a:avLst/>
              <a:gdLst/>
              <a:ahLst/>
              <a:cxnLst/>
              <a:rect l="l" t="t" r="r" b="b"/>
              <a:pathLst>
                <a:path w="1649762" h="130192">
                  <a:moveTo>
                    <a:pt x="15691" y="0"/>
                  </a:moveTo>
                  <a:lnTo>
                    <a:pt x="1634071" y="0"/>
                  </a:lnTo>
                  <a:cubicBezTo>
                    <a:pt x="1642737" y="0"/>
                    <a:pt x="1649762" y="7025"/>
                    <a:pt x="1649762" y="15691"/>
                  </a:cubicBezTo>
                  <a:lnTo>
                    <a:pt x="1649762" y="114501"/>
                  </a:lnTo>
                  <a:cubicBezTo>
                    <a:pt x="1649762" y="123167"/>
                    <a:pt x="1642737" y="130192"/>
                    <a:pt x="1634071" y="130192"/>
                  </a:cubicBezTo>
                  <a:lnTo>
                    <a:pt x="15691" y="130192"/>
                  </a:lnTo>
                  <a:cubicBezTo>
                    <a:pt x="7025" y="130192"/>
                    <a:pt x="0" y="123167"/>
                    <a:pt x="0" y="114501"/>
                  </a:cubicBezTo>
                  <a:lnTo>
                    <a:pt x="0" y="15691"/>
                  </a:lnTo>
                  <a:cubicBezTo>
                    <a:pt x="0" y="7025"/>
                    <a:pt x="7025" y="0"/>
                    <a:pt x="1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49762" cy="16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84631" y="7561897"/>
            <a:ext cx="12334754" cy="973406"/>
            <a:chOff x="0" y="0"/>
            <a:chExt cx="1649762" cy="1301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49762" cy="130192"/>
            </a:xfrm>
            <a:custGeom>
              <a:avLst/>
              <a:gdLst/>
              <a:ahLst/>
              <a:cxnLst/>
              <a:rect l="l" t="t" r="r" b="b"/>
              <a:pathLst>
                <a:path w="1649762" h="130192">
                  <a:moveTo>
                    <a:pt x="15691" y="0"/>
                  </a:moveTo>
                  <a:lnTo>
                    <a:pt x="1634071" y="0"/>
                  </a:lnTo>
                  <a:cubicBezTo>
                    <a:pt x="1642737" y="0"/>
                    <a:pt x="1649762" y="7025"/>
                    <a:pt x="1649762" y="15691"/>
                  </a:cubicBezTo>
                  <a:lnTo>
                    <a:pt x="1649762" y="114501"/>
                  </a:lnTo>
                  <a:cubicBezTo>
                    <a:pt x="1649762" y="123167"/>
                    <a:pt x="1642737" y="130192"/>
                    <a:pt x="1634071" y="130192"/>
                  </a:cubicBezTo>
                  <a:lnTo>
                    <a:pt x="15691" y="130192"/>
                  </a:lnTo>
                  <a:cubicBezTo>
                    <a:pt x="7025" y="130192"/>
                    <a:pt x="0" y="123167"/>
                    <a:pt x="0" y="114501"/>
                  </a:cubicBezTo>
                  <a:lnTo>
                    <a:pt x="0" y="15691"/>
                  </a:lnTo>
                  <a:cubicBezTo>
                    <a:pt x="0" y="7025"/>
                    <a:pt x="7025" y="0"/>
                    <a:pt x="1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49762" cy="16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984631" y="8820193"/>
            <a:ext cx="12334754" cy="973406"/>
            <a:chOff x="0" y="0"/>
            <a:chExt cx="1649762" cy="1301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49762" cy="130192"/>
            </a:xfrm>
            <a:custGeom>
              <a:avLst/>
              <a:gdLst/>
              <a:ahLst/>
              <a:cxnLst/>
              <a:rect l="l" t="t" r="r" b="b"/>
              <a:pathLst>
                <a:path w="1649762" h="130192">
                  <a:moveTo>
                    <a:pt x="15691" y="0"/>
                  </a:moveTo>
                  <a:lnTo>
                    <a:pt x="1634071" y="0"/>
                  </a:lnTo>
                  <a:cubicBezTo>
                    <a:pt x="1642737" y="0"/>
                    <a:pt x="1649762" y="7025"/>
                    <a:pt x="1649762" y="15691"/>
                  </a:cubicBezTo>
                  <a:lnTo>
                    <a:pt x="1649762" y="114501"/>
                  </a:lnTo>
                  <a:cubicBezTo>
                    <a:pt x="1649762" y="123167"/>
                    <a:pt x="1642737" y="130192"/>
                    <a:pt x="1634071" y="130192"/>
                  </a:cubicBezTo>
                  <a:lnTo>
                    <a:pt x="15691" y="130192"/>
                  </a:lnTo>
                  <a:cubicBezTo>
                    <a:pt x="7025" y="130192"/>
                    <a:pt x="0" y="123167"/>
                    <a:pt x="0" y="114501"/>
                  </a:cubicBezTo>
                  <a:lnTo>
                    <a:pt x="0" y="15691"/>
                  </a:lnTo>
                  <a:cubicBezTo>
                    <a:pt x="0" y="7025"/>
                    <a:pt x="7025" y="0"/>
                    <a:pt x="1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649762" cy="16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984631" y="2226795"/>
            <a:ext cx="7641685" cy="1065910"/>
            <a:chOff x="0" y="0"/>
            <a:chExt cx="1022068" cy="14256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22069" cy="142565"/>
            </a:xfrm>
            <a:custGeom>
              <a:avLst/>
              <a:gdLst/>
              <a:ahLst/>
              <a:cxnLst/>
              <a:rect l="l" t="t" r="r" b="b"/>
              <a:pathLst>
                <a:path w="1022069" h="142565">
                  <a:moveTo>
                    <a:pt x="71282" y="0"/>
                  </a:moveTo>
                  <a:lnTo>
                    <a:pt x="950786" y="0"/>
                  </a:lnTo>
                  <a:cubicBezTo>
                    <a:pt x="990154" y="0"/>
                    <a:pt x="1022069" y="31914"/>
                    <a:pt x="1022069" y="71282"/>
                  </a:cubicBezTo>
                  <a:lnTo>
                    <a:pt x="1022069" y="71282"/>
                  </a:lnTo>
                  <a:cubicBezTo>
                    <a:pt x="1022069" y="110650"/>
                    <a:pt x="990154" y="142565"/>
                    <a:pt x="950786" y="142565"/>
                  </a:cubicBezTo>
                  <a:lnTo>
                    <a:pt x="71282" y="142565"/>
                  </a:lnTo>
                  <a:cubicBezTo>
                    <a:pt x="31914" y="142565"/>
                    <a:pt x="0" y="110650"/>
                    <a:pt x="0" y="71282"/>
                  </a:cubicBezTo>
                  <a:lnTo>
                    <a:pt x="0" y="71282"/>
                  </a:lnTo>
                  <a:cubicBezTo>
                    <a:pt x="0" y="31914"/>
                    <a:pt x="31914" y="0"/>
                    <a:pt x="712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22068" cy="18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65527" y="3886006"/>
            <a:ext cx="5866349" cy="488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Ahmed Ibrahim AboAlmaaty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95712" y="3886006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2301192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379344" y="2226795"/>
            <a:ext cx="3940042" cy="1065910"/>
            <a:chOff x="0" y="0"/>
            <a:chExt cx="526977" cy="14256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6977" cy="142565"/>
            </a:xfrm>
            <a:custGeom>
              <a:avLst/>
              <a:gdLst/>
              <a:ahLst/>
              <a:cxnLst/>
              <a:rect l="l" t="t" r="r" b="b"/>
              <a:pathLst>
                <a:path w="526977" h="142565">
                  <a:moveTo>
                    <a:pt x="71282" y="0"/>
                  </a:moveTo>
                  <a:lnTo>
                    <a:pt x="455695" y="0"/>
                  </a:lnTo>
                  <a:cubicBezTo>
                    <a:pt x="495063" y="0"/>
                    <a:pt x="526977" y="31914"/>
                    <a:pt x="526977" y="71282"/>
                  </a:cubicBezTo>
                  <a:lnTo>
                    <a:pt x="526977" y="71282"/>
                  </a:lnTo>
                  <a:cubicBezTo>
                    <a:pt x="526977" y="110650"/>
                    <a:pt x="495063" y="142565"/>
                    <a:pt x="455695" y="142565"/>
                  </a:cubicBezTo>
                  <a:lnTo>
                    <a:pt x="71282" y="142565"/>
                  </a:lnTo>
                  <a:cubicBezTo>
                    <a:pt x="31914" y="142565"/>
                    <a:pt x="0" y="110650"/>
                    <a:pt x="0" y="71282"/>
                  </a:cubicBezTo>
                  <a:lnTo>
                    <a:pt x="0" y="71282"/>
                  </a:lnTo>
                  <a:cubicBezTo>
                    <a:pt x="0" y="31914"/>
                    <a:pt x="31914" y="0"/>
                    <a:pt x="712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526977" cy="18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707086" y="2483929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65527" y="2483929"/>
            <a:ext cx="5866349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60621" y="5178760"/>
            <a:ext cx="5866349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Ali Abd Al Hamed Ali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20719" y="6537756"/>
            <a:ext cx="5866349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Mostafa Ahmed Mohamed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19691" y="7772349"/>
            <a:ext cx="5866349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Angluana Amged Salah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60621" y="9011553"/>
            <a:ext cx="5866349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Carol Hosam Zakaria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95712" y="5178760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2300424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95712" y="6507305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2300426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95712" y="7772779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2300429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95712" y="9031075"/>
            <a:ext cx="3284557" cy="494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1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2301084</a:t>
            </a: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19951" y="4759662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1" y="0"/>
                </a:lnTo>
                <a:lnTo>
                  <a:pt x="8641361" y="8014861"/>
                </a:lnTo>
                <a:lnTo>
                  <a:pt x="0" y="8014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069604">
            <a:off x="12159467" y="-2228596"/>
            <a:ext cx="8641360" cy="8014862"/>
          </a:xfrm>
          <a:custGeom>
            <a:avLst/>
            <a:gdLst/>
            <a:ahLst/>
            <a:cxnLst/>
            <a:rect l="l" t="t" r="r" b="b"/>
            <a:pathLst>
              <a:path w="8641360" h="8014862">
                <a:moveTo>
                  <a:pt x="0" y="0"/>
                </a:moveTo>
                <a:lnTo>
                  <a:pt x="8641360" y="0"/>
                </a:lnTo>
                <a:lnTo>
                  <a:pt x="8641360" y="8014862"/>
                </a:lnTo>
                <a:lnTo>
                  <a:pt x="0" y="801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171451" y="8161150"/>
            <a:ext cx="233098" cy="1097150"/>
            <a:chOff x="0" y="0"/>
            <a:chExt cx="61392" cy="288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392" cy="288961"/>
            </a:xfrm>
            <a:custGeom>
              <a:avLst/>
              <a:gdLst/>
              <a:ahLst/>
              <a:cxnLst/>
              <a:rect l="l" t="t" r="r" b="b"/>
              <a:pathLst>
                <a:path w="61392" h="288961">
                  <a:moveTo>
                    <a:pt x="30696" y="0"/>
                  </a:moveTo>
                  <a:lnTo>
                    <a:pt x="30696" y="0"/>
                  </a:lnTo>
                  <a:cubicBezTo>
                    <a:pt x="38837" y="0"/>
                    <a:pt x="46645" y="3234"/>
                    <a:pt x="52401" y="8991"/>
                  </a:cubicBezTo>
                  <a:cubicBezTo>
                    <a:pt x="58158" y="14747"/>
                    <a:pt x="61392" y="22555"/>
                    <a:pt x="61392" y="30696"/>
                  </a:cubicBezTo>
                  <a:lnTo>
                    <a:pt x="61392" y="258265"/>
                  </a:lnTo>
                  <a:cubicBezTo>
                    <a:pt x="61392" y="266406"/>
                    <a:pt x="58158" y="274214"/>
                    <a:pt x="52401" y="279971"/>
                  </a:cubicBezTo>
                  <a:cubicBezTo>
                    <a:pt x="46645" y="285727"/>
                    <a:pt x="38837" y="288961"/>
                    <a:pt x="30696" y="288961"/>
                  </a:cubicBezTo>
                  <a:lnTo>
                    <a:pt x="30696" y="288961"/>
                  </a:lnTo>
                  <a:cubicBezTo>
                    <a:pt x="22555" y="288961"/>
                    <a:pt x="14747" y="285727"/>
                    <a:pt x="8991" y="279971"/>
                  </a:cubicBezTo>
                  <a:cubicBezTo>
                    <a:pt x="3234" y="274214"/>
                    <a:pt x="0" y="266406"/>
                    <a:pt x="0" y="258265"/>
                  </a:cubicBezTo>
                  <a:lnTo>
                    <a:pt x="0" y="30696"/>
                  </a:lnTo>
                  <a:cubicBezTo>
                    <a:pt x="0" y="22555"/>
                    <a:pt x="3234" y="14747"/>
                    <a:pt x="8991" y="8991"/>
                  </a:cubicBezTo>
                  <a:cubicBezTo>
                    <a:pt x="14747" y="3234"/>
                    <a:pt x="22555" y="0"/>
                    <a:pt x="306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C9EFF">
                    <a:alpha val="100000"/>
                  </a:srgbClr>
                </a:gs>
                <a:gs pos="100000">
                  <a:srgbClr val="454AB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392" cy="32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2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539456">
            <a:off x="-7481411" y="-943032"/>
            <a:ext cx="10271923" cy="9527209"/>
          </a:xfrm>
          <a:custGeom>
            <a:avLst/>
            <a:gdLst/>
            <a:ahLst/>
            <a:cxnLst/>
            <a:rect l="l" t="t" r="r" b="b"/>
            <a:pathLst>
              <a:path w="10271923" h="9527209">
                <a:moveTo>
                  <a:pt x="0" y="0"/>
                </a:moveTo>
                <a:lnTo>
                  <a:pt x="10271924" y="0"/>
                </a:lnTo>
                <a:lnTo>
                  <a:pt x="10271924" y="9527209"/>
                </a:lnTo>
                <a:lnTo>
                  <a:pt x="0" y="9527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627532" y="2565597"/>
            <a:ext cx="10576724" cy="9809911"/>
          </a:xfrm>
          <a:custGeom>
            <a:avLst/>
            <a:gdLst/>
            <a:ahLst/>
            <a:cxnLst/>
            <a:rect l="l" t="t" r="r" b="b"/>
            <a:pathLst>
              <a:path w="10576724" h="9809911">
                <a:moveTo>
                  <a:pt x="0" y="0"/>
                </a:moveTo>
                <a:lnTo>
                  <a:pt x="10576724" y="0"/>
                </a:lnTo>
                <a:lnTo>
                  <a:pt x="10576724" y="9809911"/>
                </a:lnTo>
                <a:lnTo>
                  <a:pt x="0" y="9809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28892" y="3966286"/>
            <a:ext cx="12630216" cy="211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91"/>
              </a:lnSpc>
              <a:spcBef>
                <a:spcPct val="0"/>
              </a:spcBef>
            </a:pPr>
            <a:r>
              <a:rPr lang="en-US" sz="12422" b="1">
                <a:solidFill>
                  <a:srgbClr val="5A98FA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THANK YOU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2276</Words>
  <Application>Microsoft Office PowerPoint</Application>
  <PresentationFormat>Custom</PresentationFormat>
  <Paragraphs>343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Canva Sans</vt:lpstr>
      <vt:lpstr>Open Sans Bold</vt:lpstr>
      <vt:lpstr>Open Sans</vt:lpstr>
      <vt:lpstr>Arial</vt:lpstr>
      <vt:lpstr>TT Supermolot Neue Expanded Bold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Social Media Strategy Presentation</dc:title>
  <cp:lastModifiedBy>Workstation Shop</cp:lastModifiedBy>
  <cp:revision>3</cp:revision>
  <dcterms:created xsi:type="dcterms:W3CDTF">2006-08-16T00:00:00Z</dcterms:created>
  <dcterms:modified xsi:type="dcterms:W3CDTF">2025-12-19T12:54:29Z</dcterms:modified>
  <dc:identifier>DAG70Yqt1-E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2707448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